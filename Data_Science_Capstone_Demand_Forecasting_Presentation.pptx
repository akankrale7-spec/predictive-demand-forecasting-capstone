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Predictive Demand Forecasting Using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Capstone Project</a:t>
            </a:r>
          </a:p>
          <a:p>
            <a:r>
              <a:t>Research Report / Whitepaper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Organizations need reliable demand forecasts to plan inventory, procurement and operations.</a:t>
            </a:r>
          </a:p>
          <a:p>
            <a:pPr>
              <a:spcAft>
                <a:spcPts val="1000"/>
              </a:spcAft>
              <a:defRPr sz="2000"/>
            </a:pPr>
            <a:r>
              <a:t>Historical demand contains trend, short-term dependence and effects from marketing events and holidays.</a:t>
            </a:r>
          </a:p>
          <a:p>
            <a:pPr>
              <a:spcAft>
                <a:spcPts val="1000"/>
              </a:spcAft>
              <a:defRPr sz="2000"/>
            </a:pPr>
            <a:r>
              <a:t>Manual forecasting can be inconsistent and difficult to scale.</a:t>
            </a:r>
          </a:p>
          <a:p>
            <a:pPr>
              <a:spcAft>
                <a:spcPts val="1000"/>
              </a:spcAft>
              <a:defRPr sz="2000"/>
            </a:pPr>
            <a:r>
              <a:t>This project develops and compares predictive models for short-term demand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 Research Question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Research question: How accurately can historical demand patterns be used to forecast future daily demand?</a:t>
            </a:r>
          </a:p>
          <a:p>
            <a:pPr>
              <a:spcAft>
                <a:spcPts val="1000"/>
              </a:spcAft>
              <a:defRPr sz="2000"/>
            </a:pPr>
            <a:r>
              <a:t>Objective 1: Clean and explore historical demand data.</a:t>
            </a:r>
          </a:p>
          <a:p>
            <a:pPr>
              <a:spcAft>
                <a:spcPts val="1000"/>
              </a:spcAft>
              <a:defRPr sz="2000"/>
            </a:pPr>
            <a:r>
              <a:t>Objective 2: Identify temporal patterns and external-event effects.</a:t>
            </a:r>
          </a:p>
          <a:p>
            <a:pPr>
              <a:spcAft>
                <a:spcPts val="1000"/>
              </a:spcAft>
              <a:defRPr sz="2000"/>
            </a:pPr>
            <a:r>
              <a:t>Objective 3: Build and compare baseline, ARIMA and Random Forest models.</a:t>
            </a:r>
          </a:p>
          <a:p>
            <a:pPr>
              <a:spcAft>
                <a:spcPts val="1000"/>
              </a:spcAft>
              <a:defRPr sz="2000"/>
            </a:pPr>
            <a:r>
              <a:t>Objective 4: Evaluate models using MAE, RMSE and MAPE and translate findings into business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 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Records: 30 daily observations (2026-06-01 to 2026-06-30).</a:t>
            </a:r>
          </a:p>
          <a:p>
            <a:pPr>
              <a:spcAft>
                <a:spcPts val="1000"/>
              </a:spcAft>
              <a:defRPr sz="2000"/>
            </a:pPr>
            <a:r>
              <a:t>Variables: date, demand, marketing_event and holiday.</a:t>
            </a:r>
          </a:p>
          <a:p>
            <a:pPr>
              <a:spcAft>
                <a:spcPts val="1000"/>
              </a:spcAft>
              <a:defRPr sz="2000"/>
            </a:pPr>
            <a:r>
              <a:t>Demand statistics: mean = 142.1, minimum = 118, maximum = 174.</a:t>
            </a:r>
          </a:p>
          <a:p>
            <a:pPr>
              <a:spcAft>
                <a:spcPts val="1000"/>
              </a:spcAft>
              <a:defRPr sz="2000"/>
            </a:pPr>
            <a:r>
              <a:t>The dataset is suitable for demonstrating an end-to-end forecasting workflow, but its small size limits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4.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 ingestion → validation → chronological sorting → exploratory analysis</a:t>
            </a:r>
          </a:p>
          <a:p>
            <a:pPr>
              <a:spcAft>
                <a:spcPts val="1000"/>
              </a:spcAft>
              <a:defRPr sz="1800"/>
            </a:pPr>
            <a:r>
              <a:t>Feature engineering: previous-day demand, 7-day lag and 7-day rolling mean</a:t>
            </a:r>
          </a:p>
          <a:p>
            <a:pPr>
              <a:spcAft>
                <a:spcPts val="1000"/>
              </a:spcAft>
              <a:defRPr sz="1800"/>
            </a:pPr>
            <a:r>
              <a:t>Time-based train/test split: final 6 days reserved for out-of-sample evaluation</a:t>
            </a:r>
          </a:p>
          <a:p>
            <a:pPr>
              <a:spcAft>
                <a:spcPts val="1000"/>
              </a:spcAft>
              <a:defRPr sz="1800"/>
            </a:pPr>
            <a:r>
              <a:t>Models: previous-day baseline, ARIMA(1,1,1), Random Forest</a:t>
            </a:r>
          </a:p>
          <a:p>
            <a:pPr>
              <a:spcAft>
                <a:spcPts val="1000"/>
              </a:spcAft>
              <a:defRPr sz="1800"/>
            </a:pPr>
            <a:r>
              <a:t>Evaluation: MAE, RMSE and MAPE</a:t>
            </a:r>
          </a:p>
          <a:p>
            <a:pPr>
              <a:spcAft>
                <a:spcPts val="1000"/>
              </a:spcAft>
              <a:defRPr sz="1800"/>
            </a:pPr>
            <a:r>
              <a:t>Select the model with the lowest forecasting error while considering interpretability and deployment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5. Exploratory Data Analysis</a:t>
            </a:r>
          </a:p>
        </p:txBody>
      </p:sp>
      <p:pic>
        <p:nvPicPr>
          <p:cNvPr id="3" name="Picture 2" descr="deman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49597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 Predictive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Baseline: uses the most recent observed demand as the next-day estimate.</a:t>
            </a:r>
          </a:p>
          <a:p>
            <a:pPr>
              <a:spcAft>
                <a:spcPts val="1000"/>
              </a:spcAft>
              <a:defRPr sz="2000"/>
            </a:pPr>
            <a:r>
              <a:t>ARIMA(1,1,1): models autoregressive structure, differencing and moving-average error.</a:t>
            </a:r>
          </a:p>
          <a:p>
            <a:pPr>
              <a:spcAft>
                <a:spcPts val="1000"/>
              </a:spcAft>
              <a:defRPr sz="2000"/>
            </a:pPr>
            <a:r>
              <a:t>Random Forest: learns nonlinear relationships from lagged demand, rolling demand, marketing events and holidays.</a:t>
            </a:r>
          </a:p>
          <a:p>
            <a:pPr>
              <a:spcAft>
                <a:spcPts val="1000"/>
              </a:spcAft>
              <a:defRPr sz="2000"/>
            </a:pPr>
            <a:r>
              <a:t>Chronological validation is used to avoid leakage from future observations.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7.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MAPE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Previous-Day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6.24%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ARIMA(1,1,1)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7.13%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1.87%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Best model on the 6-day holdout by MAE: Random Forest (MAE 2.99).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8. Forecast Results</a:t>
            </a:r>
          </a:p>
        </p:txBody>
      </p:sp>
      <p:pic>
        <p:nvPicPr>
          <p:cNvPr id="3" name="Picture 2" descr="foreca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5608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9. Business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Inventory: forecast demand to reduce excess stock and stockouts.</a:t>
            </a:r>
          </a:p>
          <a:p>
            <a:pPr>
              <a:spcAft>
                <a:spcPts val="1000"/>
              </a:spcAft>
              <a:defRPr sz="2000"/>
            </a:pPr>
            <a:r>
              <a:t>Procurement: use forecasts to schedule replenishment and supplier orders.</a:t>
            </a:r>
          </a:p>
          <a:p>
            <a:pPr>
              <a:spcAft>
                <a:spcPts val="1000"/>
              </a:spcAft>
              <a:defRPr sz="2000"/>
            </a:pPr>
            <a:r>
              <a:t>Operations: anticipate demand peaks and allocate resources earlier.</a:t>
            </a:r>
          </a:p>
          <a:p>
            <a:pPr>
              <a:spcAft>
                <a:spcPts val="1000"/>
              </a:spcAft>
              <a:defRPr sz="2000"/>
            </a:pPr>
            <a:r>
              <a:t>Marketing: event indicators can help quantify demand changes associated with campaigns.</a:t>
            </a:r>
          </a:p>
          <a:p>
            <a:pPr>
              <a:spcAft>
                <a:spcPts val="1000"/>
              </a:spcAft>
              <a:defRPr sz="2000"/>
            </a:pPr>
            <a:r>
              <a:t>Decision support: forecasts should be combined with business judgment and updated as new observations arrive.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Only 30 observations are available, so results should be treated as a proof of concept.</a:t>
            </a:r>
          </a:p>
          <a:p>
            <a:pPr>
              <a:spcAft>
                <a:spcPts val="1000"/>
              </a:spcAft>
              <a:defRPr sz="2000"/>
            </a:pPr>
            <a:r>
              <a:t>Longer historical data would support stronger seasonality analysis and more robust validation.</a:t>
            </a:r>
          </a:p>
          <a:p>
            <a:pPr>
              <a:spcAft>
                <a:spcPts val="1000"/>
              </a:spcAft>
              <a:defRPr sz="2000"/>
            </a:pPr>
            <a:r>
              <a:t>Future work: SARIMA/Prophet/gradient boosting, rolling cross-validation and confidence intervals.</a:t>
            </a:r>
          </a:p>
          <a:p>
            <a:pPr>
              <a:spcAft>
                <a:spcPts val="1000"/>
              </a:spcAft>
              <a:defRPr sz="2000"/>
            </a:pPr>
            <a:r>
              <a:t>Additional variables such as price, promotions, weather and product category could improve forecasting.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project demonstrates a complete predictive modeling workflow from raw data to business insight.</a:t>
            </a:r>
          </a:p>
          <a:p>
            <a:pPr>
              <a:spcAft>
                <a:spcPts val="1000"/>
              </a:spcAft>
              <a:defRPr sz="2000"/>
            </a:pPr>
            <a:r>
              <a:t>Three approaches were evaluated using an out-of-sample time-based holdout.</a:t>
            </a:r>
          </a:p>
          <a:p>
            <a:pPr>
              <a:spcAft>
                <a:spcPts val="1000"/>
              </a:spcAft>
              <a:defRPr sz="2000"/>
            </a:pPr>
            <a:r>
              <a:t>Random Forest achieved the lowest MAE on this dataset.</a:t>
            </a:r>
          </a:p>
          <a:p>
            <a:pPr>
              <a:spcAft>
                <a:spcPts val="1000"/>
              </a:spcAft>
              <a:defRPr sz="2000"/>
            </a:pPr>
            <a:r>
              <a:t>The solution can support short-term planning, while larger datasets and richer features are recommended for production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12. Repository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GitHub repository: dataset + Jupyter notebook/code + results + README + final report PDF.</a:t>
            </a:r>
          </a:p>
          <a:p>
            <a:pPr>
              <a:spcAft>
                <a:spcPts val="1000"/>
              </a:spcAft>
              <a:defRPr sz="2000"/>
            </a:pPr>
            <a:r>
              <a:t>Research report: 8–12 pages covering abstract, literature background, methodology, modeling, results and business implications.</a:t>
            </a:r>
          </a:p>
          <a:p>
            <a:pPr>
              <a:spcAft>
                <a:spcPts val="1000"/>
              </a:spcAft>
              <a:defRPr sz="2000"/>
            </a:pPr>
            <a:r>
              <a:t>Expected proof: formal Data Science Research Report PDF and complete GitHub Code Repository.</a:t>
            </a:r>
          </a:p>
          <a:p>
            <a:pPr>
              <a:spcAft>
                <a:spcPts val="1000"/>
              </a:spcAft>
              <a:defRPr sz="2000"/>
            </a:pPr>
            <a:r>
              <a:t>Suggested repository name: predictive-demand-forecasting-capstone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Box, G. E. P., Jenkins, G. M., Reinsel, G. C., &amp; Ljung, G. M. Time Series Analysis: Forecasting and Control.</a:t>
            </a:r>
          </a:p>
          <a:p>
            <a:pPr>
              <a:spcAft>
                <a:spcPts val="1000"/>
              </a:spcAft>
              <a:defRPr sz="1700"/>
            </a:pPr>
            <a:r>
              <a:t>Hyndman, R. J., &amp; Athanasopoulos, G. Forecasting: Principles and Practice.</a:t>
            </a:r>
          </a:p>
          <a:p>
            <a:pPr>
              <a:spcAft>
                <a:spcPts val="1000"/>
              </a:spcAft>
              <a:defRPr sz="1700"/>
            </a:pPr>
            <a:r>
              <a:t>Pedregosa et al. (2011). Scikit-learn: Machine Learning in Python. Journal of Machine Learning Research.</a:t>
            </a:r>
          </a:p>
          <a:p>
            <a:pPr>
              <a:spcAft>
                <a:spcPts val="1000"/>
              </a:spcAft>
              <a:defRPr sz="1700"/>
            </a:pPr>
            <a:r>
              <a:t>Statsmodels documentation — time-series and ARIMA modeling.</a:t>
            </a:r>
          </a:p>
          <a:p>
            <a:pPr>
              <a:spcAft>
                <a:spcPts val="1000"/>
              </a:spcAft>
              <a:defRPr sz="1700"/>
            </a:pPr>
            <a:r>
              <a:t>Scikit-learn documentation — Random Forest regression and model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